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TTA SAI SRI RAM" userId="6e8c00c4b33fb974" providerId="LiveId" clId="{8E6EEAC1-BCDD-4BA0-AE55-EC42060C0BAB}"/>
    <pc:docChg chg="modSld">
      <pc:chgData name="PITTA SAI SRI RAM" userId="6e8c00c4b33fb974" providerId="LiveId" clId="{8E6EEAC1-BCDD-4BA0-AE55-EC42060C0BAB}" dt="2026-10-24T17:15:54.856" v="2" actId="20577"/>
      <pc:docMkLst>
        <pc:docMk/>
      </pc:docMkLst>
      <pc:sldChg chg="modSp mod">
        <pc:chgData name="PITTA SAI SRI RAM" userId="6e8c00c4b33fb974" providerId="LiveId" clId="{8E6EEAC1-BCDD-4BA0-AE55-EC42060C0BAB}" dt="2026-10-24T17:15:54.856" v="2" actId="20577"/>
        <pc:sldMkLst>
          <pc:docMk/>
          <pc:sldMk cId="0" sldId="266"/>
        </pc:sldMkLst>
        <pc:spChg chg="mod">
          <ac:chgData name="PITTA SAI SRI RAM" userId="6e8c00c4b33fb974" providerId="LiveId" clId="{8E6EEAC1-BCDD-4BA0-AE55-EC42060C0BAB}" dt="2026-10-24T17:15:54.856" v="2" actId="20577"/>
          <ac:spMkLst>
            <pc:docMk/>
            <pc:sldMk cId="0" sldId="266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801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Arrhythmias are abnormal heartbeats. A 24-hour Holter recording contains around 100,000 beats, so manual review is slow. CardioWaveNet automates beat-level classification: each beat becomes a CWT scalogram, and a compact 2-D CNN assigns one of the 5 AAMI classes. At mid-review I used 4 records; for this review I scaled to all 48 records, trained and evaluated the model, and built a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field moved from hand-crafted features (de Chazal) to 1-D CNNs (Kiranyaz, Acharya, Kachuee) to 2-D CNNs on beat images and scalograms (Jun, Wang). We follow the 2-D scalogram line but keep the network compact.</a:t>
            </a:r>
          </a:p>
          <a:p>
            <a:endParaRPr/>
          </a:p>
          <a:p>
            <a:r>
              <a:t>References:</a:t>
            </a:r>
          </a:p>
          <a:p>
            <a:r>
              <a:t>de Chazal P, O'Dwyer M, Reilly RB. IEEE TBME 51(7):1196-1206, 2004.</a:t>
            </a:r>
          </a:p>
          <a:p>
            <a:r>
              <a:t>Kiranyaz S, Ince T, Gabbouj M. IEEE TBME 63(3):664-675, 2016.</a:t>
            </a:r>
          </a:p>
          <a:p>
            <a:r>
              <a:t>Acharya UR et al. Computers in Biology and Medicine 89:389-396, 2017.</a:t>
            </a:r>
          </a:p>
          <a:p>
            <a:r>
              <a:t>Kachuee M, Fazeli S, Sarrafzadeh M. IEEE ICHI 2018.</a:t>
            </a:r>
          </a:p>
          <a:p>
            <a:r>
              <a:t>Jun TJ et al. arXiv:1804.06812, 2018.</a:t>
            </a:r>
          </a:p>
          <a:p>
            <a:r>
              <a:t>Wang T et al. Entropy 23(1):119, 2021.</a:t>
            </a:r>
          </a:p>
          <a:p>
            <a:r>
              <a:t>Moody GB, Mark RG. IEEE EMB Magazine 20(3):45-50, 2001 (MIT-BIH).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AAMI EC57 groups the MIT-BIH beat labels into 5 classes, which is the standard way to report results so they are comparable across papers. The image counts in the table come straight from the generated scalogram folders.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beat is cut 100 samples before and 150 after the annotated R-peak, about 0.7 s in total, which covers P wave, QRS and T wave at normal heart rates. The CWT with a Morlet wavelet gives a time-frequency image: sharp, high-frequency QRS energy shows at small scales, slower content at larger scales. Magnitudes are min-max scaled to 0-255 and resized to 128x128.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Input scalograms are rescaled to 0-1. Each of the first three blocks is a 3x3 convolution, ReLU, batch normalisation and 2x2 max pooling, halving the resolution while doubling the filters. Block 4 has no pooling, keeping a 16x16 map. Global average pooling turns 16x16x128 into 128 numbers, followed by dropout 0.4, a 64-unit dense layer and a 5-way softmax. Total 106,693 parameters; this can be verified with `python model.py`.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Receptive field is computed with r_out = r_in + (k-1)*j_in and j_out = j_in*s. After block 3 a unit sees about 98 ms, roughly a normal QRS. Ventricular beats have wide QRS complexes above 120 ms, so we need block 4, which sees about 206 ms. A fifth block would see 424 ms but almost quadruple the parameters. These are theoretical receptive fields; the effective field is smaller and centred, which is another reason not to go shallower than 4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have not run an ablation study yet, so I justify each choice by reasoning and evidence. GAP versus Flatten is the biggest one: Flatten would put 2.1 million weights in a single layer, about 20 times the whole model. Batch norm stabilises training. Dropout sits only in the head. Transfer learning from ImageNet was not used because scalograms are single-channel and look nothing like natural photos, and those models are 200 to 1000 times larger. The planned ablation is listed on the final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Class weights are computed by scikit-learn's 'balanced' rule. Early stopping restores the epoch with the lowest validation loss, and the learning rate is halved whenever validation loss stalls for two epochs.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Left: accuracy and loss for training and validation. Training accuracy can sit below validation accuracy because dropout is active during training. Right: the test confusion matrix; the diagonal is correct predictions. S beats look like N beats in shape; what separates them is prematurity (RR interval), which a single-beat image cannot see, so S-N confusion is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Report macro-F1 first: because N, V and Q dominate the test set, plain accuracy can look high even if the rare F class is poor. Then switch to the Streamlit demo: pick a random V beat, show the prediction and probabilities, then open the Model performance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upfront about the split: a random beat-level split lets neighbouring beats of the same patient land in both train and test, which inflates scores. Most papers reporting 98-99% use this setup; the stricter inter-patient DS1/DS2 split is the next step, together with the ablation study and RR-interval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1F2937"/>
                </a:solidFill>
                <a:latin typeface="Calibri"/>
              </a:rPr>
              <a:t>Cardio Wave 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F766E"/>
                </a:solidFill>
                <a:latin typeface="Calibri"/>
              </a:rPr>
              <a:t>Heartbeat classification from ECG wavelet scalograms with a compact 2-D CNN</a:t>
            </a:r>
          </a:p>
        </p:txBody>
      </p:sp>
      <p:sp>
        <p:nvSpPr>
          <p:cNvPr id="5" name="Freeform 4"/>
          <p:cNvSpPr/>
          <p:nvPr/>
        </p:nvSpPr>
        <p:spPr>
          <a:xfrm>
            <a:off x="548640" y="1965960"/>
            <a:ext cx="11109960" cy="950976"/>
          </a:xfrm>
          <a:custGeom>
            <a:avLst/>
            <a:gdLst/>
            <a:ahLst/>
            <a:cxnLst/>
            <a:rect l="l" t="t" r="r" b="b"/>
            <a:pathLst>
              <a:path w="11109960" h="950976">
                <a:moveTo>
                  <a:pt x="0" y="731520"/>
                </a:moveTo>
                <a:lnTo>
                  <a:pt x="192024" y="731520"/>
                </a:lnTo>
                <a:lnTo>
                  <a:pt x="249631" y="658368"/>
                </a:lnTo>
                <a:lnTo>
                  <a:pt x="326440" y="731520"/>
                </a:lnTo>
                <a:lnTo>
                  <a:pt x="460857" y="731520"/>
                </a:lnTo>
                <a:lnTo>
                  <a:pt x="499262" y="790041"/>
                </a:lnTo>
                <a:lnTo>
                  <a:pt x="556869" y="0"/>
                </a:lnTo>
                <a:lnTo>
                  <a:pt x="614476" y="950976"/>
                </a:lnTo>
                <a:lnTo>
                  <a:pt x="672084" y="731520"/>
                </a:lnTo>
                <a:lnTo>
                  <a:pt x="883310" y="731520"/>
                </a:lnTo>
                <a:lnTo>
                  <a:pt x="1017727" y="585216"/>
                </a:lnTo>
                <a:lnTo>
                  <a:pt x="1152144" y="731520"/>
                </a:lnTo>
                <a:lnTo>
                  <a:pt x="1920240" y="731520"/>
                </a:lnTo>
                <a:lnTo>
                  <a:pt x="1920240" y="731520"/>
                </a:lnTo>
                <a:lnTo>
                  <a:pt x="2112264" y="731520"/>
                </a:lnTo>
                <a:lnTo>
                  <a:pt x="2169871" y="658368"/>
                </a:lnTo>
                <a:lnTo>
                  <a:pt x="2246680" y="731520"/>
                </a:lnTo>
                <a:lnTo>
                  <a:pt x="2381097" y="731520"/>
                </a:lnTo>
                <a:lnTo>
                  <a:pt x="2419502" y="790041"/>
                </a:lnTo>
                <a:lnTo>
                  <a:pt x="2477109" y="0"/>
                </a:lnTo>
                <a:lnTo>
                  <a:pt x="2534716" y="950976"/>
                </a:lnTo>
                <a:lnTo>
                  <a:pt x="2592324" y="731520"/>
                </a:lnTo>
                <a:lnTo>
                  <a:pt x="2803550" y="731520"/>
                </a:lnTo>
                <a:lnTo>
                  <a:pt x="2937967" y="585216"/>
                </a:lnTo>
                <a:lnTo>
                  <a:pt x="3072384" y="731520"/>
                </a:lnTo>
                <a:lnTo>
                  <a:pt x="3840480" y="731520"/>
                </a:lnTo>
                <a:lnTo>
                  <a:pt x="3840480" y="731520"/>
                </a:lnTo>
                <a:lnTo>
                  <a:pt x="4032504" y="731520"/>
                </a:lnTo>
                <a:lnTo>
                  <a:pt x="4090111" y="658368"/>
                </a:lnTo>
                <a:lnTo>
                  <a:pt x="4166920" y="731520"/>
                </a:lnTo>
                <a:lnTo>
                  <a:pt x="4301337" y="731520"/>
                </a:lnTo>
                <a:lnTo>
                  <a:pt x="4339742" y="790041"/>
                </a:lnTo>
                <a:lnTo>
                  <a:pt x="4397349" y="0"/>
                </a:lnTo>
                <a:lnTo>
                  <a:pt x="4454956" y="950976"/>
                </a:lnTo>
                <a:lnTo>
                  <a:pt x="4512564" y="731520"/>
                </a:lnTo>
                <a:lnTo>
                  <a:pt x="4723790" y="731520"/>
                </a:lnTo>
                <a:lnTo>
                  <a:pt x="4858207" y="585216"/>
                </a:lnTo>
                <a:lnTo>
                  <a:pt x="4992624" y="731520"/>
                </a:lnTo>
                <a:lnTo>
                  <a:pt x="5760720" y="731520"/>
                </a:lnTo>
                <a:lnTo>
                  <a:pt x="5760720" y="731520"/>
                </a:lnTo>
                <a:lnTo>
                  <a:pt x="5952744" y="731520"/>
                </a:lnTo>
                <a:lnTo>
                  <a:pt x="6010351" y="658368"/>
                </a:lnTo>
                <a:lnTo>
                  <a:pt x="6087160" y="731520"/>
                </a:lnTo>
                <a:lnTo>
                  <a:pt x="6221577" y="731520"/>
                </a:lnTo>
                <a:lnTo>
                  <a:pt x="6259982" y="790041"/>
                </a:lnTo>
                <a:lnTo>
                  <a:pt x="6317589" y="0"/>
                </a:lnTo>
                <a:lnTo>
                  <a:pt x="6375196" y="950976"/>
                </a:lnTo>
                <a:lnTo>
                  <a:pt x="6432804" y="731520"/>
                </a:lnTo>
                <a:lnTo>
                  <a:pt x="6644030" y="731520"/>
                </a:lnTo>
                <a:lnTo>
                  <a:pt x="6778447" y="585216"/>
                </a:lnTo>
                <a:lnTo>
                  <a:pt x="6912864" y="731520"/>
                </a:lnTo>
                <a:lnTo>
                  <a:pt x="7680960" y="731520"/>
                </a:lnTo>
                <a:lnTo>
                  <a:pt x="7680960" y="731520"/>
                </a:lnTo>
                <a:lnTo>
                  <a:pt x="7872984" y="731520"/>
                </a:lnTo>
                <a:lnTo>
                  <a:pt x="7930591" y="658368"/>
                </a:lnTo>
                <a:lnTo>
                  <a:pt x="8007400" y="731520"/>
                </a:lnTo>
                <a:lnTo>
                  <a:pt x="8141817" y="731520"/>
                </a:lnTo>
                <a:lnTo>
                  <a:pt x="8180222" y="790041"/>
                </a:lnTo>
                <a:lnTo>
                  <a:pt x="8237829" y="0"/>
                </a:lnTo>
                <a:lnTo>
                  <a:pt x="8295436" y="950976"/>
                </a:lnTo>
                <a:lnTo>
                  <a:pt x="8353044" y="731520"/>
                </a:lnTo>
                <a:lnTo>
                  <a:pt x="8564270" y="731520"/>
                </a:lnTo>
                <a:lnTo>
                  <a:pt x="8698687" y="585216"/>
                </a:lnTo>
                <a:lnTo>
                  <a:pt x="8833104" y="731520"/>
                </a:lnTo>
                <a:lnTo>
                  <a:pt x="9601200" y="731520"/>
                </a:lnTo>
                <a:lnTo>
                  <a:pt x="11109960" y="731520"/>
                </a:lnTo>
              </a:path>
            </a:pathLst>
          </a:custGeom>
          <a:noFill/>
          <a:ln w="285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3246120"/>
            <a:ext cx="3611880" cy="25603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35584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13048"/>
            <a:ext cx="32461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▪  </a:t>
            </a:r>
            <a:r>
              <a:rPr sz="1300" b="0">
                <a:solidFill>
                  <a:srgbClr val="1F2937"/>
                </a:solidFill>
                <a:latin typeface="Calibri"/>
              </a:rPr>
              <a:t>Arrhythmia diagnosis needs beat-by-beat review of long Holter ECGs (~100,000 beats/day).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▪  </a:t>
            </a:r>
            <a:r>
              <a:rPr sz="1300" b="0">
                <a:solidFill>
                  <a:srgbClr val="1F2937"/>
                </a:solidFill>
                <a:latin typeface="Calibri"/>
              </a:rPr>
              <a:t>Manual review is slow and tiring; rare abnormal beats are easy to miss.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3246120"/>
            <a:ext cx="3611880" cy="25603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335584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Our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3813048"/>
            <a:ext cx="32461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▪  </a:t>
            </a:r>
            <a:r>
              <a:rPr sz="1300" b="0">
                <a:solidFill>
                  <a:srgbClr val="1F2937"/>
                </a:solidFill>
                <a:latin typeface="Calibri"/>
              </a:rPr>
              <a:t>Cut each beat around its R-peak and convert it to a CWT scalogram (time x frequency image).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▪  </a:t>
            </a:r>
            <a:r>
              <a:rPr sz="1300" b="0">
                <a:solidFill>
                  <a:srgbClr val="1F2937"/>
                </a:solidFill>
                <a:latin typeface="Calibri"/>
              </a:rPr>
              <a:t>Classify it with CardioWaveNet into the 5 AAMI EC57 classes: N, S, V, F, Q.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3246120"/>
            <a:ext cx="3611880" cy="25603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66175" y="335584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Since mid-review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3813048"/>
            <a:ext cx="32461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C0392B"/>
                </a:solidFill>
                <a:latin typeface="Calibri"/>
              </a:rPr>
              <a:t>▪  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Scaled from 4 records to all 48 MIT-BIH records.</a:t>
            </a:r>
          </a:p>
          <a:p>
            <a:pPr algn="l">
              <a:spcAft>
                <a:spcPts val="600"/>
              </a:spcAft>
            </a:pPr>
            <a:r>
              <a:rPr sz="1300" b="1" dirty="0">
                <a:solidFill>
                  <a:srgbClr val="C0392B"/>
                </a:solidFill>
                <a:latin typeface="Calibri"/>
              </a:rPr>
              <a:t>▪  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Designed, trained and evaluated </a:t>
            </a:r>
            <a:r>
              <a:rPr sz="1300" b="0" dirty="0" err="1">
                <a:solidFill>
                  <a:srgbClr val="1F2937"/>
                </a:solidFill>
                <a:latin typeface="Calibri"/>
              </a:rPr>
              <a:t>CardioWaveNet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; built a </a:t>
            </a:r>
            <a:r>
              <a:rPr sz="1300" b="0" dirty="0" err="1">
                <a:solidFill>
                  <a:srgbClr val="1F2937"/>
                </a:solidFill>
                <a:latin typeface="Calibri"/>
              </a:rPr>
              <a:t>Streamlit</a:t>
            </a:r>
            <a:r>
              <a:rPr sz="1300" b="0" dirty="0">
                <a:solidFill>
                  <a:srgbClr val="1F2937"/>
                </a:solidFill>
                <a:latin typeface="Calibri"/>
              </a:rPr>
              <a:t> demo.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Presented by: </a:t>
            </a:r>
            <a:r>
              <a:rPr sz="1400" b="0">
                <a:solidFill>
                  <a:srgbClr val="1F2937"/>
                </a:solidFill>
                <a:latin typeface="Calibri"/>
              </a:rPr>
              <a:t>P Sai Sri 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Cardio Wave Net  ·  ECG beat 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0584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From hand-crafted features to CNNs on beat images and scalograms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Cardio Wave Net  ·  ECG beat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2 / 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Study</a:t>
                      </a:r>
                    </a:p>
                  </a:txBody>
                  <a:tcPr marL="73152" marR="73152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73152" marR="73152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Relevance to CardioWaveNet</a:t>
                      </a:r>
                    </a:p>
                  </a:txBody>
                  <a:tcPr marL="73152" marR="73152" marT="27432" marB="27432" anchor="ctr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de Chazal et al., 2004 (IEEE TBME)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Hand-crafted morphology + RR-interval features, linear discriminant classifier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Set up the inter-patient (DS1/DS2) protocol; features need expert design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Kiranyaz et al., 2016 (IEEE TBME)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Compact 1-D CNN, patient-specific training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Small CNNs learn features directly from beats; cheap enough for real time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Acharya et al., 2017 (Comput. Biol. Med.)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9-layer 1-D CNN, 5 AAMI classes, synthetic data to balance classes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~94% accuracy; shows class imbalance must be handled explicitly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Kachuee et al., 2018 (IEEE ICHI)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Deep residual 1-D CNN on MIT-BIH, 5 AAMI classes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~93% average accuracy; learned features transfer to MI detection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Jun et al., 2018 (arXiv)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Each beat drawn as a 128x128 grayscale image, VGG-style 2-D CNN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2-D CNNs on beat images work well; motivates our 128x128 input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Wang et al., 2021 (Entropy)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CWT scalograms + 2-D CNN, with RR-interval features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Closest to our work: scalograms expose time-frequency patterns to a CNN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This work: CardioWaveNet</a:t>
                      </a:r>
                    </a:p>
                  </a:txBody>
                  <a:tcPr marL="73152" marR="73152" marT="27432" marB="27432" anchor="ctr"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CWT (Morlet) scalogram, 4-block 2-D CNN with GAP, ~107k parameters</a:t>
                      </a:r>
                    </a:p>
                  </a:txBody>
                  <a:tcPr marL="73152" marR="73152" marT="27432" marB="27432" anchor="ctr"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All 48 records, AAMI 5-class, class-weighted loss, live Streamlit demo</a:t>
                      </a:r>
                    </a:p>
                  </a:txBody>
                  <a:tcPr marL="73152" marR="73152" marT="27432" marB="27432" anchor="ctr">
                    <a:solidFill>
                      <a:srgbClr val="FB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Dataset &amp; Beat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0584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MIT-BIH Arrhythmia Database mapped to the AAMI EC57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Cardio Wave Net  ·  ECG beat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3 / 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6949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73152" marR="73152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MIT-BIH labels</a:t>
                      </a:r>
                    </a:p>
                  </a:txBody>
                  <a:tcPr marL="73152" marR="73152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Images used</a:t>
                      </a:r>
                    </a:p>
                  </a:txBody>
                  <a:tcPr marL="73152" marR="73152" marT="27432" marB="27432" anchor="ctr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Normal (incl. bundle branch block)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N, L, R, e, j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9,056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Supraventricular ectopic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A, a, J,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2,779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Ventricular ectopic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V, E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7,235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Fusion of normal + ventricular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802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Paced / unclassifiable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/, f, Q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8,037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27,909</a:t>
                      </a:r>
                    </a:p>
                  </a:txBody>
                  <a:tcPr marL="73152" marR="73152" marT="27432" marB="27432" anchor="ctr">
                    <a:solidFill>
                      <a:srgbClr val="FB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892040"/>
            <a:ext cx="6949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0">
                <a:solidFill>
                  <a:srgbClr val="1F2937"/>
                </a:solidFill>
                <a:latin typeface="Calibri"/>
              </a:rPr>
              <a:t>Normal beats are kept 1 in 10 at extraction (N is ~80% of all MIT-BIH beats).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0">
                <a:solidFill>
                  <a:srgbClr val="1F2937"/>
                </a:solidFill>
                <a:latin typeface="Calibri"/>
              </a:rPr>
              <a:t>Remaining imbalance is handled with a class-weighted loss (slide 8).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508760"/>
            <a:ext cx="4069080" cy="45720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1618488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MIT-BIH 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075688"/>
            <a:ext cx="37033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0">
                <a:solidFill>
                  <a:srgbClr val="1F2937"/>
                </a:solidFill>
                <a:latin typeface="Calibri"/>
              </a:rPr>
              <a:t>48 half-hour, two-channel ambulatory ECG recordings from 47 subjects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0">
                <a:solidFill>
                  <a:srgbClr val="1F2937"/>
                </a:solidFill>
                <a:latin typeface="Calibri"/>
              </a:rPr>
              <a:t>360 Hz sampling, 11-bit resolution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0">
                <a:solidFill>
                  <a:srgbClr val="1F2937"/>
                </a:solidFill>
                <a:latin typeface="Calibri"/>
              </a:rPr>
              <a:t>~110,000 beats annotated by two or more cardiologists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0">
                <a:solidFill>
                  <a:srgbClr val="1F2937"/>
                </a:solidFill>
                <a:latin typeface="Calibri"/>
              </a:rPr>
              <a:t>Channel 0 used (modified lead II in most records)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0">
                <a:solidFill>
                  <a:srgbClr val="1F2937"/>
                </a:solidFill>
                <a:latin typeface="Calibri"/>
              </a:rPr>
              <a:t>Mid-review: 4 records. Now: all 48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Methodology: ECG Beat to Scalogram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0584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Every beat becomes a 128x128 time-frequency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Cardio Wave Net  ·  ECG beat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4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1554480" cy="1051560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Calibri"/>
              </a:rPr>
              <a:t>MIT-BIH ECG</a:t>
            </a:r>
          </a:p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48 records · 360 Hz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57984" y="1938528"/>
            <a:ext cx="237744" cy="274320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450592" y="1554480"/>
            <a:ext cx="1554480" cy="1051560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Calibri"/>
              </a:rPr>
              <a:t>Beat window</a:t>
            </a:r>
          </a:p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-100 / +150 samples</a:t>
            </a:r>
          </a:p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around R-peak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59936" y="1938528"/>
            <a:ext cx="237744" cy="274320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52544" y="1554480"/>
            <a:ext cx="1554480" cy="1051560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Calibri"/>
              </a:rPr>
              <a:t>CWT</a:t>
            </a:r>
          </a:p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Morlet wavelet</a:t>
            </a:r>
          </a:p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scales 1-63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61888" y="1938528"/>
            <a:ext cx="237744" cy="274320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54496" y="1554480"/>
            <a:ext cx="1554480" cy="1051560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Calibri"/>
              </a:rPr>
              <a:t>Scalogram</a:t>
            </a:r>
          </a:p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|coef| scaled 0-255</a:t>
            </a:r>
          </a:p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128x128 PNG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63840" y="1938528"/>
            <a:ext cx="237744" cy="274320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56448" y="1554480"/>
            <a:ext cx="1554480" cy="105156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Calibri"/>
              </a:rPr>
              <a:t>CardioWaveNet</a:t>
            </a:r>
          </a:p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2-D CNN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65792" y="1938528"/>
            <a:ext cx="237744" cy="274320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58400" y="1554480"/>
            <a:ext cx="1554480" cy="1051560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1F2937"/>
                </a:solidFill>
                <a:latin typeface="Calibri"/>
              </a:rPr>
              <a:t>5 AAMI classes</a:t>
            </a:r>
          </a:p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N · S · V · F · Q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880360"/>
            <a:ext cx="6035040" cy="33375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990088"/>
            <a:ext cx="5669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Why a CWT scalogram?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47288"/>
            <a:ext cx="566927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1">
                <a:solidFill>
                  <a:srgbClr val="1F2937"/>
                </a:solidFill>
                <a:latin typeface="Calibri"/>
              </a:rPr>
              <a:t>FFT: </a:t>
            </a:r>
            <a:r>
              <a:rPr sz="1400" b="0">
                <a:solidFill>
                  <a:srgbClr val="1F2937"/>
                </a:solidFill>
                <a:latin typeface="Calibri"/>
              </a:rPr>
              <a:t>shows which frequencies exist but loses when they occur.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1">
                <a:solidFill>
                  <a:srgbClr val="1F2937"/>
                </a:solidFill>
                <a:latin typeface="Calibri"/>
              </a:rPr>
              <a:t>STFT: </a:t>
            </a:r>
            <a:r>
              <a:rPr sz="1400" b="0">
                <a:solidFill>
                  <a:srgbClr val="1F2937"/>
                </a:solidFill>
                <a:latin typeface="Calibri"/>
              </a:rPr>
              <a:t>one fixed window cannot resolve both the sharp QRS and slower waves.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1">
                <a:solidFill>
                  <a:srgbClr val="1F2937"/>
                </a:solidFill>
                <a:latin typeface="Calibri"/>
              </a:rPr>
              <a:t>CWT: </a:t>
            </a:r>
            <a:r>
              <a:rPr sz="1400" b="0">
                <a:solidFill>
                  <a:srgbClr val="1F2937"/>
                </a:solidFill>
                <a:latin typeface="Calibri"/>
              </a:rPr>
              <a:t>multi-resolution. Short wavelets (small scales) resolve the sharp QRS; long wavelets (large scales) capture slower components.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1">
                <a:solidFill>
                  <a:srgbClr val="1F2937"/>
                </a:solidFill>
                <a:latin typeface="Calibri"/>
              </a:rPr>
              <a:t>Morlet: </a:t>
            </a:r>
            <a:r>
              <a:rPr sz="1400" b="0">
                <a:solidFill>
                  <a:srgbClr val="1F2937"/>
                </a:solidFill>
                <a:latin typeface="Calibri"/>
              </a:rPr>
              <a:t>a smooth oscillating wavelet that resembles QRS morphology; widely used for ECG scalograms.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2880360"/>
            <a:ext cx="5074920" cy="33375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0" y="29718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Example scalograms</a:t>
            </a:r>
          </a:p>
        </p:txBody>
      </p:sp>
      <p:pic>
        <p:nvPicPr>
          <p:cNvPr id="24" name="Picture 23" descr="203_1068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429000"/>
            <a:ext cx="1463040" cy="1463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58000" y="49194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Normal</a:t>
            </a:r>
          </a:p>
        </p:txBody>
      </p:sp>
      <p:pic>
        <p:nvPicPr>
          <p:cNvPr id="26" name="Picture 25" descr="232_1219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429000"/>
            <a:ext cx="1463040" cy="14630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458200" y="49194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Supraventricular</a:t>
            </a:r>
          </a:p>
        </p:txBody>
      </p:sp>
      <p:pic>
        <p:nvPicPr>
          <p:cNvPr id="28" name="Picture 27" descr="208_360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3429000"/>
            <a:ext cx="1463040" cy="14630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058400" y="49194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Ventricular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30352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Rows = scale, columns = time. Window: 100 samples (278 ms) before the R-peak keeps the P wave; 150 samples (417 ms) after keeps the ST segment and T wave.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CardioWaveNet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0584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4 convolutional blocks + global average pooling + small classifier 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Cardio Wave Net  ·  ECG beat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5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1097280" cy="2651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Calibri"/>
              </a:rPr>
              <a:t>Input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128×128×1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÷255 rescale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655064" y="2743200"/>
            <a:ext cx="237744" cy="274320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947672" y="1691639"/>
            <a:ext cx="1097280" cy="2377440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Calibri"/>
              </a:rPr>
              <a:t>Block 1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Conv 3×3, 16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ReLU → BN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MaxPool 2×2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64×64×16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99816" y="2743200"/>
            <a:ext cx="237744" cy="274320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92424" y="1828800"/>
            <a:ext cx="1097280" cy="2103120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Calibri"/>
              </a:rPr>
              <a:t>Block 2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Conv 3×3, 32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ReLU → BN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MaxPool 2×2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32×32×32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44568" y="2743200"/>
            <a:ext cx="237744" cy="274320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37176" y="1965960"/>
            <a:ext cx="1097280" cy="1828800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Calibri"/>
              </a:rPr>
              <a:t>Block 3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Conv 3×3, 64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ReLU → BN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MaxPool 2×2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16×16×64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9320" y="2743200"/>
            <a:ext cx="237744" cy="274320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81928" y="1965960"/>
            <a:ext cx="1097280" cy="1828800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Calibri"/>
              </a:rPr>
              <a:t>Block 4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Conv 3×3, 128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ReLU → BN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(no pool)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16×16×128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34072" y="2743200"/>
            <a:ext cx="237744" cy="274320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26679" y="2240280"/>
            <a:ext cx="1097280" cy="128016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Calibri"/>
              </a:rPr>
              <a:t>Global Avg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Pool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128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78824" y="2743200"/>
            <a:ext cx="237744" cy="274320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71432" y="2240280"/>
            <a:ext cx="1097280" cy="128016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Calibri"/>
              </a:rPr>
              <a:t>Dropout 0.4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Dense 64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ReLU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323576" y="2743200"/>
            <a:ext cx="237744" cy="274320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616184" y="2331720"/>
            <a:ext cx="1097280" cy="109728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050" b="1">
                <a:solidFill>
                  <a:srgbClr val="1F2937"/>
                </a:solidFill>
                <a:latin typeface="Calibri"/>
              </a:rPr>
              <a:t>Dense 5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Softmax</a:t>
            </a:r>
          </a:p>
          <a:p>
            <a:pPr algn="ctr"/>
            <a:r>
              <a:rPr sz="1050" b="0">
                <a:solidFill>
                  <a:srgbClr val="1F2937"/>
                </a:solidFill>
                <a:latin typeface="Calibri"/>
              </a:rPr>
              <a:t>N S V F 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47672" y="4315968"/>
            <a:ext cx="4517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Feature extractor (4 conv blocks)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4315968"/>
            <a:ext cx="3986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Classifier head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0060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892040"/>
            <a:ext cx="3291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106,693 parameters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≈0.43 MB of weights: trains on a laptop CPU, real-time inference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480060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34840" y="4892040"/>
            <a:ext cx="3291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Receptive field 38×38 px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≈206 ms of the beat: wide enough for a wide ventricular QRS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480060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4892040"/>
            <a:ext cx="3291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GAP instead of Flatten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Flatten + Dense(64) alone would need 2.1 M weights (≈20× the whole model)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Why This Architecture? (1) Feature Extractor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0584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Design derived from the input image and ECG physiology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Cardio Wave Net  ·  ECG beat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6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1">
                <a:solidFill>
                  <a:srgbClr val="1F2937"/>
                </a:solidFill>
                <a:latin typeface="Calibri"/>
              </a:rPr>
              <a:t>Why a 2-D CNN? </a:t>
            </a:r>
            <a:r>
              <a:rPr sz="1400" b="0">
                <a:solidFill>
                  <a:srgbClr val="1F2937"/>
                </a:solidFill>
                <a:latin typeface="Calibri"/>
              </a:rPr>
              <a:t>A scalogram is an image whose diagnostic cues are local shapes: the QRS energy blob, its width and frequency spread. Convolutions share weights and tolerate small R-peak misalignments.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1">
                <a:solidFill>
                  <a:srgbClr val="1F2937"/>
                </a:solidFill>
                <a:latin typeface="Calibri"/>
              </a:rPr>
              <a:t>Why 3×3 kernels? </a:t>
            </a:r>
            <a:r>
              <a:rPr sz="1400" b="0">
                <a:solidFill>
                  <a:srgbClr val="1F2937"/>
                </a:solidFill>
                <a:latin typeface="Calibri"/>
              </a:rPr>
              <a:t>Two stacked 3×3 layers see a 5×5 region with 18 instead of 25 weights per channel pair, plus an extra non-linearity (VGG principle).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1">
                <a:solidFill>
                  <a:srgbClr val="1F2937"/>
                </a:solidFill>
                <a:latin typeface="Calibri"/>
              </a:rPr>
              <a:t>Why 16→32→64→128? </a:t>
            </a:r>
            <a:r>
              <a:rPr sz="1400" b="0">
                <a:solidFill>
                  <a:srgbClr val="1F2937"/>
                </a:solidFill>
                <a:latin typeface="Calibri"/>
              </a:rPr>
              <a:t>Each pooling halves resolution, so filters double to keep capacity balanced: edges early, whole-beat patterns late.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1">
                <a:solidFill>
                  <a:srgbClr val="1F2937"/>
                </a:solidFill>
                <a:latin typeface="Calibri"/>
              </a:rPr>
              <a:t>Why 4 blocks? </a:t>
            </a:r>
            <a:r>
              <a:rPr sz="1400" b="0">
                <a:solidFill>
                  <a:srgbClr val="1F2937"/>
                </a:solidFill>
                <a:latin typeface="Calibri"/>
              </a:rPr>
              <a:t>Chosen from the receptive field (table).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463040"/>
            <a:ext cx="5897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Receptive field vs. ECG physiology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852160" y="1920240"/>
          <a:ext cx="58978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Depth</a:t>
                      </a:r>
                    </a:p>
                  </a:txBody>
                  <a:tcPr marL="73152" marR="73152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RF (px)</a:t>
                      </a:r>
                    </a:p>
                  </a:txBody>
                  <a:tcPr marL="73152" marR="73152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≈ Time</a:t>
                      </a:r>
                    </a:p>
                  </a:txBody>
                  <a:tcPr marL="73152" marR="73152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fits inside</a:t>
                      </a:r>
                    </a:p>
                  </a:txBody>
                  <a:tcPr marL="73152" marR="73152" marT="27432" marB="27432" anchor="ctr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Block 1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16 ms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Slopes, sharp edges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Block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43 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Wave fragments (R upstroke)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Block 3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98 ms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A normal QRS (80-100 ms)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Block 4 (used)</a:t>
                      </a:r>
                    </a:p>
                  </a:txBody>
                  <a:tcPr marL="73152" marR="73152" marT="27432" marB="27432" anchor="ctr"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73152" marR="73152" marT="27432" marB="27432" anchor="ctr"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206 ms</a:t>
                      </a:r>
                    </a:p>
                  </a:txBody>
                  <a:tcPr marL="73152" marR="73152" marT="27432" marB="27432" anchor="ctr"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Calibri"/>
                        </a:rPr>
                        <a:t>Wide ventricular QRS (&gt;120 ms) + context</a:t>
                      </a:r>
                    </a:p>
                  </a:txBody>
                  <a:tcPr marL="73152" marR="73152" marT="27432" marB="27432" anchor="ctr">
                    <a:solidFill>
                      <a:srgbClr val="FB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Block 5 (not used)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424 ms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Most of the beat; +0.3 M params (≈4× model)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852160" y="5029200"/>
            <a:ext cx="5897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1 px on the time axis = 250 samples ÷ 128 px ÷ 360 Hz ≈ 5.4 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623560"/>
            <a:ext cx="11292840" cy="64008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Calibri"/>
              </a:rPr>
              <a:t>4 blocks = the shallowest network whose receptive field covers a wide ventricular QRS; a 5th block costs ~4× the parameters for context the task does not need.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Why This Architecture? (2) Head &amp; Regularisation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0584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Each choice compared with the obvious alternative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Cardio Wave Net  ·  ECG beat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7 / 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112928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37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Design choice</a:t>
                      </a:r>
                    </a:p>
                  </a:txBody>
                  <a:tcPr marL="73152" marR="73152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Alternative</a:t>
                      </a:r>
                    </a:p>
                  </a:txBody>
                  <a:tcPr marL="73152" marR="73152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 we chose it</a:t>
                      </a:r>
                    </a:p>
                  </a:txBody>
                  <a:tcPr marL="73152" marR="73152" marT="27432" marB="27432" anchor="ctr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Global Average Pooling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Flatten + Dense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Flatten gives 32,768 features → 2.1 M weights in one layer for ~19,536 training images. GAP gives 128 features (8,256 weights): less overfitting, position-tolerant.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BatchNorm after every conv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No normalisation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Keeps activations well-scaled so Adam can use lr = 1e-3, converges in fewer epochs, adds mild regularisation.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Dropout 0.4, head only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None / everywhere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Overfitting risk concentrates in the dense head; conv layers are already regularised by BN and weight sharing.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Compact custom CNN (~0.1 M)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ImageNet ResNet-50 (~25 M) / VGG-16 (~138 M)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Scalograms are 1-channel, non-natural images; modest dataset; must train on a CPU and run live in Streamlit.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Softmax + sparse cross-entropy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Sigmoid / one-vs-rest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</a:rPr>
                        <a:t>AAMI classes are mutually exclusive; labels are stored as integers 0-4.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120640"/>
            <a:ext cx="11292840" cy="1143000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166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Evidence for the design (formal ablation planned for the final review)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① Receptive field sized to QRS physiology   ② ~107k parameters suits ~19,536 training images   ③ Learning curves monitored for overfitting (slide 9)   ④ Follows proven CNN-for-ECG designs (Kiranyaz 2016, Jun 2018, Wang 2021)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Training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0584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Handling class imbalance and avoiding overfitting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Cardio Wave Net  ·  ECG beat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8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6126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1">
                <a:solidFill>
                  <a:srgbClr val="1F2937"/>
                </a:solidFill>
                <a:latin typeface="Calibri"/>
              </a:rPr>
              <a:t>Split: </a:t>
            </a:r>
            <a:r>
              <a:rPr sz="1400" b="0">
                <a:solidFill>
                  <a:srgbClr val="1F2937"/>
                </a:solidFill>
                <a:latin typeface="Calibri"/>
              </a:rPr>
              <a:t>stratified 70 / 15 / 15 (train / val / test), fixed seed 42; the test set is never seen during training.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1">
                <a:solidFill>
                  <a:srgbClr val="1F2937"/>
                </a:solidFill>
                <a:latin typeface="Calibri"/>
              </a:rPr>
              <a:t>Imbalance, step 1: </a:t>
            </a:r>
            <a:r>
              <a:rPr sz="1400" b="0">
                <a:solidFill>
                  <a:srgbClr val="1F2937"/>
                </a:solidFill>
                <a:latin typeface="Calibri"/>
              </a:rPr>
              <a:t>keep 1 in 10 normal beats at extraction.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1">
                <a:solidFill>
                  <a:srgbClr val="1F2937"/>
                </a:solidFill>
                <a:latin typeface="Calibri"/>
              </a:rPr>
              <a:t>Imbalance, step 2: </a:t>
            </a:r>
            <a:r>
              <a:rPr sz="1400" b="0">
                <a:solidFill>
                  <a:srgbClr val="1F2937"/>
                </a:solidFill>
                <a:latin typeface="Calibri"/>
              </a:rPr>
              <a:t>'balanced' class weights w_c = n / (K · n_c): rare classes cost more when misclassified, without duplicating images.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1">
                <a:solidFill>
                  <a:srgbClr val="1F2937"/>
                </a:solidFill>
                <a:latin typeface="Calibri"/>
              </a:rPr>
              <a:t>Optimiser: </a:t>
            </a:r>
            <a:r>
              <a:rPr sz="1400" b="0">
                <a:solidFill>
                  <a:srgbClr val="1F2937"/>
                </a:solidFill>
                <a:latin typeface="Calibri"/>
              </a:rPr>
              <a:t>Adam, lr 1e-3, batch 64, up to 30 epochs.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1">
                <a:solidFill>
                  <a:srgbClr val="1F2937"/>
                </a:solidFill>
                <a:latin typeface="Calibri"/>
              </a:rPr>
              <a:t>Callbacks: </a:t>
            </a:r>
            <a:r>
              <a:rPr sz="1400" b="0">
                <a:solidFill>
                  <a:srgbClr val="1F2937"/>
                </a:solidFill>
                <a:latin typeface="Calibri"/>
              </a:rPr>
              <a:t>EarlyStopping on val loss (patience 5, restore best), ReduceLROnPlateau (×0.5 after 2 flat epochs), ModelCheckpoint keeps the best model.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1">
                <a:solidFill>
                  <a:srgbClr val="1F2937"/>
                </a:solidFill>
                <a:latin typeface="Calibri"/>
              </a:rPr>
              <a:t>This run: </a:t>
            </a:r>
            <a:r>
              <a:rPr sz="1400" b="0">
                <a:solidFill>
                  <a:srgbClr val="1F2937"/>
                </a:solidFill>
                <a:latin typeface="Calibri"/>
              </a:rPr>
              <a:t>Run train.py to fill in the training summary.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46304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Class weights (≈, from image counts)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0" y="1920240"/>
          <a:ext cx="48920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73152" marR="73152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Images</a:t>
                      </a:r>
                    </a:p>
                  </a:txBody>
                  <a:tcPr marL="73152" marR="73152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 marL="73152" marR="73152" marT="27432" marB="27432" anchor="ctr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 · Normal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9,056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0.62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 · Supraventricular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2,779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2.01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V · Ventricular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7,235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0.77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F · Fusion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802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6.96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Q · Paced/unknown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8,037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0.69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858000" y="4709160"/>
            <a:ext cx="4892040" cy="14630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Why not oversampling / SMOTE?</a:t>
            </a:r>
          </a:p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Duplicated or synthetic scalograms risk memorisation; weighting the loss is free and leaves the data untouched.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Results: Learning Curves &amp; Confusion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0584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Held-out test set (15%), never used for training or model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Cardio Wave Net  ·  ECG beat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9 / 11</a:t>
            </a:r>
          </a:p>
        </p:txBody>
      </p:sp>
      <p:pic>
        <p:nvPicPr>
          <p:cNvPr id="8" name="Picture 7" descr="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37607"/>
            <a:ext cx="6583680" cy="239406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4343400"/>
            <a:ext cx="6583680" cy="1874519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4453128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What the curves show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10328"/>
            <a:ext cx="62179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▪  </a:t>
            </a:r>
            <a:r>
              <a:rPr sz="1300" b="0">
                <a:solidFill>
                  <a:srgbClr val="1F2937"/>
                </a:solidFill>
                <a:latin typeface="Calibri"/>
              </a:rPr>
              <a:t>Run train.py to fill in the training summary.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▪  </a:t>
            </a:r>
            <a:r>
              <a:rPr sz="1300" b="0">
                <a:solidFill>
                  <a:srgbClr val="1F2937"/>
                </a:solidFill>
                <a:latin typeface="Calibri"/>
              </a:rPr>
              <a:t>Learning curves monitored for overfitting (slide 9).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▪  </a:t>
            </a:r>
            <a:r>
              <a:rPr sz="1300" b="0">
                <a:solidFill>
                  <a:srgbClr val="1F2937"/>
                </a:solidFill>
                <a:latin typeface="Calibri"/>
              </a:rPr>
              <a:t>Run evaluate.py to fill in the confusion analysis.</a:t>
            </a:r>
          </a:p>
        </p:txBody>
      </p:sp>
      <p:pic>
        <p:nvPicPr>
          <p:cNvPr id="12" name="Picture 11" descr="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973580"/>
            <a:ext cx="4480560" cy="37337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Results: Per-class Test Metrics &amp;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0584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Macro-F1 is the headline metric for imbalanced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Cardio Wave Net  ·  ECG beat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10 / 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6126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73152" marR="73152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3152" marR="73152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73152" marR="73152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73152" marR="73152" marT="27432" marB="27432" anchor="ctr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 · Normal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0.902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0.949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0.925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1359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 · Supraventricular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0.965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0.727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0.829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417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V · Ventricular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0.955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0.957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0.956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1085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F · Fusion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0.669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0.792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Q · Paced/unknown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0.988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0.994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0.991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1206</a:t>
                      </a:r>
                    </a:p>
                  </a:txBody>
                  <a:tcPr marL="73152" marR="73152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434840"/>
            <a:ext cx="6126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0">
                <a:solidFill>
                  <a:srgbClr val="1F2937"/>
                </a:solidFill>
                <a:latin typeface="Calibri"/>
              </a:rPr>
              <a:t>Strongest class: Q (F1 0.991). Weakest: F (F1 0.725, only 120 test beats).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▪  </a:t>
            </a:r>
            <a:r>
              <a:rPr sz="1400" b="0">
                <a:solidFill>
                  <a:srgbClr val="1F2937"/>
                </a:solidFill>
                <a:latin typeface="Calibri"/>
              </a:rPr>
              <a:t>Macro-F1 weights every class equally; accuracy is dominated by the large classes.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508760"/>
            <a:ext cx="4709160" cy="8686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" rIns="45720" bIns="27432" rtlCol="0" anchor="ctr"/>
          <a:lstStyle/>
          <a:p>
            <a:pPr algn="l"/>
            <a:r>
              <a:rPr sz="2800" b="1">
                <a:solidFill>
                  <a:srgbClr val="0F766E"/>
                </a:solidFill>
                <a:latin typeface="Calibri"/>
              </a:rPr>
              <a:t>93.7%</a:t>
            </a:r>
            <a:r>
              <a:rPr sz="1500" b="0">
                <a:solidFill>
                  <a:srgbClr val="6B7280"/>
                </a:solidFill>
                <a:latin typeface="Calibri"/>
              </a:rPr>
              <a:t>   Test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487168"/>
            <a:ext cx="4709160" cy="8686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" rIns="45720" bIns="27432" rtlCol="0" anchor="ctr"/>
          <a:lstStyle/>
          <a:p>
            <a:pPr algn="l"/>
            <a:r>
              <a:rPr sz="2800" b="1">
                <a:solidFill>
                  <a:srgbClr val="C0392B"/>
                </a:solidFill>
                <a:latin typeface="Calibri"/>
              </a:rPr>
              <a:t>0.885</a:t>
            </a:r>
            <a:r>
              <a:rPr sz="1500" b="0">
                <a:solidFill>
                  <a:srgbClr val="6B7280"/>
                </a:solidFill>
                <a:latin typeface="Calibri"/>
              </a:rPr>
              <a:t>   Macro F1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465576"/>
            <a:ext cx="4709160" cy="8686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" rIns="45720" bIns="27432" rtlCol="0" anchor="ctr"/>
          <a:lstStyle/>
          <a:p>
            <a:pPr algn="l"/>
            <a:r>
              <a:rPr sz="2800" b="1">
                <a:solidFill>
                  <a:srgbClr val="0F766E"/>
                </a:solidFill>
                <a:latin typeface="Calibri"/>
              </a:rPr>
              <a:t>0.937</a:t>
            </a:r>
            <a:r>
              <a:rPr sz="1500" b="0">
                <a:solidFill>
                  <a:srgbClr val="6B7280"/>
                </a:solidFill>
                <a:latin typeface="Calibri"/>
              </a:rPr>
              <a:t>   Weighted F1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4526280"/>
            <a:ext cx="4709160" cy="1691640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0" y="4636008"/>
            <a:ext cx="4343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Live demo: streamlit run app.py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5093208"/>
            <a:ext cx="4343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▪  </a:t>
            </a:r>
            <a:r>
              <a:rPr sz="1300" b="0">
                <a:solidFill>
                  <a:srgbClr val="1F2937"/>
                </a:solidFill>
                <a:latin typeface="Calibri"/>
              </a:rPr>
              <a:t>Random beat of any class or an uploaded scalogram → predicted class, confidence and probability chart.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Conclusion, 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00584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Cardio Wave Net  ·  ECG beat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2124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11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703320" cy="45262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Conclusions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▪  </a:t>
            </a:r>
            <a:r>
              <a:rPr sz="1300" b="0">
                <a:solidFill>
                  <a:srgbClr val="1F2937"/>
                </a:solidFill>
                <a:latin typeface="Calibri"/>
              </a:rPr>
              <a:t>Full pipeline on all 48 MIT-BIH records: R-peak window → CWT scalogram → CNN → AAMI class.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▪  </a:t>
            </a:r>
            <a:r>
              <a:rPr sz="1300" b="0">
                <a:solidFill>
                  <a:srgbClr val="1F2937"/>
                </a:solidFill>
                <a:latin typeface="Calibri"/>
              </a:rPr>
              <a:t>CardioWaveNet: 4 conv blocks + GAP, ~107k parameters; depth set by a QRS-sized receptive field.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▪  </a:t>
            </a:r>
            <a:r>
              <a:rPr sz="1300" b="0">
                <a:solidFill>
                  <a:srgbClr val="1F2937"/>
                </a:solidFill>
                <a:latin typeface="Calibri"/>
              </a:rPr>
              <a:t>Held-out test: accuracy 93.7%, macro-F1 0.885.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▪  </a:t>
            </a:r>
            <a:r>
              <a:rPr sz="1300" b="0">
                <a:solidFill>
                  <a:srgbClr val="1F2937"/>
                </a:solidFill>
                <a:latin typeface="Calibri"/>
              </a:rPr>
              <a:t>Interactive Streamlit demo for single-beat inference.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80160"/>
            <a:ext cx="3703320" cy="45262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3898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47088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▪  </a:t>
            </a:r>
            <a:r>
              <a:rPr sz="1300" b="0">
                <a:solidFill>
                  <a:srgbClr val="1F2937"/>
                </a:solidFill>
                <a:latin typeface="Calibri"/>
              </a:rPr>
              <a:t>Beat-level random split: beats of the same patient appear in train and test, so scores are optimistic vs. inter-patient testing.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▪  </a:t>
            </a:r>
            <a:r>
              <a:rPr sz="1300" b="0">
                <a:solidFill>
                  <a:srgbClr val="1F2937"/>
                </a:solidFill>
                <a:latin typeface="Calibri"/>
              </a:rPr>
              <a:t>No ablation study yet; design justified by analysis and literature.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▪  </a:t>
            </a:r>
            <a:r>
              <a:rPr sz="1300" b="0">
                <a:solidFill>
                  <a:srgbClr val="1F2937"/>
                </a:solidFill>
                <a:latin typeface="Calibri"/>
              </a:rPr>
              <a:t>Single beat, single lead: no RR-interval (rhythm) context, the main cue for S beats.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▪  </a:t>
            </a:r>
            <a:r>
              <a:rPr sz="1300" b="0">
                <a:solidFill>
                  <a:srgbClr val="1F2937"/>
                </a:solidFill>
                <a:latin typeface="Calibri"/>
              </a:rPr>
              <a:t>F class is tiny (802 images).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703320" cy="45262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3898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Future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47088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▪  </a:t>
            </a:r>
            <a:r>
              <a:rPr sz="1300" b="0">
                <a:solidFill>
                  <a:srgbClr val="1F2937"/>
                </a:solidFill>
                <a:latin typeface="Calibri"/>
              </a:rPr>
              <a:t>Inter-patient evaluation with the de Chazal DS1/DS2 split.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▪  </a:t>
            </a:r>
            <a:r>
              <a:rPr sz="1300" b="0">
                <a:solidFill>
                  <a:srgbClr val="1F2937"/>
                </a:solidFill>
                <a:latin typeface="Calibri"/>
              </a:rPr>
              <a:t>Ablation: 3 / 4 / 5 blocks, GAP vs Flatten, with/without BN and dropout.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▪  </a:t>
            </a:r>
            <a:r>
              <a:rPr sz="1300" b="0">
                <a:solidFill>
                  <a:srgbClr val="1F2937"/>
                </a:solidFill>
                <a:latin typeface="Calibri"/>
              </a:rPr>
              <a:t>Add RR-interval features as a second input branch.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▪  </a:t>
            </a:r>
            <a:r>
              <a:rPr sz="1300" b="0">
                <a:solidFill>
                  <a:srgbClr val="1F2937"/>
                </a:solidFill>
                <a:latin typeface="Calibri"/>
              </a:rPr>
              <a:t>Grad-CAM on scalograms to explain decisions; wider CWT scale range for slow P/T waves.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70448"/>
            <a:ext cx="11292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dirty="0">
                <a:solidFill>
                  <a:srgbClr val="0F766E"/>
                </a:solidFill>
                <a:latin typeface="Calibri"/>
              </a:rPr>
              <a:t>Thank you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2901</Words>
  <Application>Microsoft Office PowerPoint</Application>
  <PresentationFormat>Widescreen</PresentationFormat>
  <Paragraphs>331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PITTA SAI SRI RAM</cp:lastModifiedBy>
  <cp:revision>1</cp:revision>
  <dcterms:created xsi:type="dcterms:W3CDTF">2013-01-27T09:14:16Z</dcterms:created>
  <dcterms:modified xsi:type="dcterms:W3CDTF">2026-10-24T17:16:15Z</dcterms:modified>
  <cp:category/>
</cp:coreProperties>
</file>